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880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2E8F0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E2E8F0"/>
                </a:solidFill>
                <a:latin typeface="Arial"/>
              </a:rPr>
              <a:t>Monthly Revenue vs Net Profit (₹M)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9.59</c:v>
                </c:pt>
                <c:pt idx="1">
                  <c:v>10.99</c:v>
                </c:pt>
                <c:pt idx="2">
                  <c:v>10.130000000000001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E8-44AD-BE32-507E672503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(₹M)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2.4900000000000002</c:v>
                </c:pt>
                <c:pt idx="1">
                  <c:v>2.72</c:v>
                </c:pt>
                <c:pt idx="2">
                  <c:v>2.64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E8-44AD-BE32-507E672503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1B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0D3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2E8F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2E8F0"/>
                </a:solidFill>
                <a:latin typeface="Arial"/>
              </a:rPr>
              <a:t>Revenue by Category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0A-4414-8E74-39BDBFE80471}"/>
              </c:ext>
            </c:extLst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0A-4414-8E74-39BDBFE80471}"/>
              </c:ext>
            </c:extLst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0A-4414-8E74-39BDBFE80471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D0A-4414-8E74-39BDBFE80471}"/>
              </c:ext>
            </c:extLst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D0A-4414-8E74-39BDBFE8047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D0A-4414-8E74-39BDBFE8047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D0A-4414-8E74-39BDBFE8047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D0A-4414-8E74-39BDBFE8047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D0A-4414-8E74-39BDBFE8047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D0A-4414-8E74-39BDBFE8047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Home &amp; Kitchen</c:v>
                </c:pt>
                <c:pt idx="2">
                  <c:v>Sports</c:v>
                </c:pt>
                <c:pt idx="3">
                  <c:v>Clothing</c:v>
                </c:pt>
                <c:pt idx="4">
                  <c:v>Grocery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19.38</c:v>
                </c:pt>
                <c:pt idx="1">
                  <c:v>6.37</c:v>
                </c:pt>
                <c:pt idx="2">
                  <c:v>2.74</c:v>
                </c:pt>
                <c:pt idx="3">
                  <c:v>1.61</c:v>
                </c:pt>
                <c:pt idx="4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D0A-4414-8E74-39BDBFE804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0D3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2E8F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E2E8F0"/>
                </a:solidFill>
                <a:latin typeface="Arial"/>
              </a:rPr>
              <a:t>Net Profit by Category (₹M)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(₹M)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AA1-4BA0-81B0-6E1A6A505F10}"/>
              </c:ext>
            </c:extLst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AA1-4BA0-81B0-6E1A6A505F10}"/>
              </c:ext>
            </c:extLst>
          </c:dPt>
          <c:dPt>
            <c:idx val="2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AA1-4BA0-81B0-6E1A6A505F10}"/>
              </c:ext>
            </c:extLst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AA1-4BA0-81B0-6E1A6A505F10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AA1-4BA0-81B0-6E1A6A505F1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Home &amp; Kitchen</c:v>
                </c:pt>
                <c:pt idx="2">
                  <c:v>Sports</c:v>
                </c:pt>
                <c:pt idx="3">
                  <c:v>Clothing</c:v>
                </c:pt>
                <c:pt idx="4">
                  <c:v>Grocery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3.81</c:v>
                </c:pt>
                <c:pt idx="1">
                  <c:v>2.11</c:v>
                </c:pt>
                <c:pt idx="2">
                  <c:v>1.03</c:v>
                </c:pt>
                <c:pt idx="3">
                  <c:v>0.74</c:v>
                </c:pt>
                <c:pt idx="4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AA1-4BA0-81B0-6E1A6A505F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1B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0D36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2E8F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E2E8F0"/>
                </a:solidFill>
                <a:latin typeface="Arial"/>
              </a:rPr>
              <a:t>Return Rate % by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C4E-4C11-8DC8-52A588D93D31}"/>
              </c:ext>
            </c:extLst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C4E-4C11-8DC8-52A588D93D31}"/>
              </c:ext>
            </c:extLst>
          </c:dPt>
          <c:dPt>
            <c:idx val="2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C4E-4C11-8DC8-52A588D93D31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C4E-4C11-8DC8-52A588D93D31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C4E-4C11-8DC8-52A588D93D3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Clothing</c:v>
                </c:pt>
                <c:pt idx="1">
                  <c:v>Electronics</c:v>
                </c:pt>
                <c:pt idx="2">
                  <c:v>Sports</c:v>
                </c:pt>
                <c:pt idx="3">
                  <c:v>Home &amp; Kitchen</c:v>
                </c:pt>
                <c:pt idx="4">
                  <c:v>Grocery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4.8</c:v>
                </c:pt>
                <c:pt idx="1">
                  <c:v>7.5</c:v>
                </c:pt>
                <c:pt idx="2">
                  <c:v>7.8</c:v>
                </c:pt>
                <c:pt idx="3">
                  <c:v>8.8000000000000007</c:v>
                </c:pt>
                <c:pt idx="4">
                  <c:v>9.3000000000000007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C4E-4C11-8DC8-52A588D93D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1B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0D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456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3200400" cy="3200400"/>
          </a:xfrm>
          <a:prstGeom prst="ellipse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 2024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UrbanMart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Insights  •  Python Analysis  •  Business Intelligence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920240" cy="868680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950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₹30.72M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3159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3931920"/>
            <a:ext cx="1920240" cy="868680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51760" y="3950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₹7.85M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43159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931920"/>
            <a:ext cx="1920240" cy="868680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950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43159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3931920"/>
            <a:ext cx="1920240" cy="868680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3950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25.57%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43159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Q1 2024 • January – March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1691640"/>
          </a:xfrm>
          <a:prstGeom prst="rect">
            <a:avLst/>
          </a:prstGeom>
          <a:solidFill>
            <a:srgbClr val="2D1B69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5272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₹30.72M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67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+14.6% Feb vs Jan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51760" cy="1691640"/>
          </a:xfrm>
          <a:prstGeom prst="rect">
            <a:avLst/>
          </a:prstGeom>
          <a:solidFill>
            <a:srgbClr val="2D1B69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54864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5272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₹7.85M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167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25.57% margin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2D1B69"/>
          </a:solidFill>
          <a:ln w="1905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51560"/>
            <a:ext cx="54864" cy="1691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5272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7220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2167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Avg ₹25.6K/order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2651760" cy="1691640"/>
          </a:xfrm>
          <a:prstGeom prst="rect">
            <a:avLst/>
          </a:prstGeom>
          <a:solidFill>
            <a:srgbClr val="2D1B69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7180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7296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2,274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02920" y="3794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087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1.9 units/order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651760" cy="1691640"/>
          </a:xfrm>
          <a:prstGeom prst="rect">
            <a:avLst/>
          </a:prstGeom>
          <a:solidFill>
            <a:srgbClr val="2D1B69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71800"/>
            <a:ext cx="54864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17296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337560" y="3794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4087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Grocery highest 9.3%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651760" cy="1691640"/>
          </a:xfrm>
          <a:prstGeom prst="rect">
            <a:avLst/>
          </a:prstGeom>
          <a:solidFill>
            <a:srgbClr val="2D1B69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971800"/>
            <a:ext cx="54864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17296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₹1.86M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172200" y="3794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Discount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4087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Avg 5.64% discount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SQL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Key business queries on UrbanMart transaction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834640" cy="3886200"/>
          </a:xfrm>
          <a:prstGeom prst="rect">
            <a:avLst/>
          </a:prstGeom>
          <a:solidFill>
            <a:srgbClr val="160D36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83464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005840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 Revenue Categories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2651760" cy="2011680"/>
          </a:xfrm>
          <a:prstGeom prst="rect">
            <a:avLst/>
          </a:prstGeom>
          <a:solidFill>
            <a:srgbClr val="0D0820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08760"/>
            <a:ext cx="25603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Category,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SUM(Final_Revenue) AS Revenue,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ROUND(SUM(Final_Revenue)/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SUM(SUM(Final_Revenue)) OVER()*100,1) AS Pct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Transactions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Category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Revenue DESC;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0040" y="3584448"/>
            <a:ext cx="2651760" cy="1188720"/>
          </a:xfrm>
          <a:prstGeom prst="rect">
            <a:avLst/>
          </a:prstGeom>
          <a:solidFill>
            <a:srgbClr val="2D1B69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630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B6D4"/>
                </a:solidFill>
              </a:rPr>
              <a:t>💡 Insight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38587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Electronics dominates at ₹19.4M (63% of total revenue)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834640" cy="3886200"/>
          </a:xfrm>
          <a:prstGeom prst="rect">
            <a:avLst/>
          </a:prstGeom>
          <a:solidFill>
            <a:srgbClr val="160D36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05840"/>
            <a:ext cx="2834640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005840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Monthly Revenue Trend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481328"/>
            <a:ext cx="2651760" cy="2011680"/>
          </a:xfrm>
          <a:prstGeom prst="rect">
            <a:avLst/>
          </a:prstGeom>
          <a:solidFill>
            <a:srgbClr val="0D0820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508760"/>
            <a:ext cx="25603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Month,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SUM(Final_Revenue) AS Revenue,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SUM(Net_Profit) AS Profit,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ROUND(AVG(Profit_Margin_%), 2) AS Margin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Transactions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Month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MIN(Date);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91840" y="3584448"/>
            <a:ext cx="2651760" cy="1188720"/>
          </a:xfrm>
          <a:prstGeom prst="rect">
            <a:avLst/>
          </a:prstGeom>
          <a:solidFill>
            <a:srgbClr val="2D1B69"/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630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78BFA"/>
                </a:solidFill>
              </a:rPr>
              <a:t>💡 Insight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37560" y="38587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Feb peak at ₹11M — strongest month. Jan lowest at ₹9.6M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1005840"/>
            <a:ext cx="2834640" cy="3886200"/>
          </a:xfrm>
          <a:prstGeom prst="rect">
            <a:avLst/>
          </a:prstGeom>
          <a:solidFill>
            <a:srgbClr val="160D36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005840"/>
            <a:ext cx="28346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005840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Return Rate by Category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481328"/>
            <a:ext cx="2651760" cy="2011680"/>
          </a:xfrm>
          <a:prstGeom prst="rect">
            <a:avLst/>
          </a:prstGeom>
          <a:solidFill>
            <a:srgbClr val="0D0820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508760"/>
            <a:ext cx="25603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Category,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FILTER(WHERE Is_Returned='Yes')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Returns,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ROUND(100.0 * COUNT(*) FILTER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(WHERE Is_Returned='Yes')/COUNT(*),1)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Return_Rate_Pct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Transactions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Category;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263640" y="3584448"/>
            <a:ext cx="2651760" cy="1188720"/>
          </a:xfrm>
          <a:prstGeom prst="rect">
            <a:avLst/>
          </a:prstGeom>
          <a:solidFill>
            <a:srgbClr val="2D1B69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630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💡 Insight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38587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Grocery has highest return rate (9.3%). Clothing lowest (4.8%)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SQL Insights — Advanced Queries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Profitability, segmentation &amp; payment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834640" cy="3886200"/>
          </a:xfrm>
          <a:prstGeom prst="rect">
            <a:avLst/>
          </a:prstGeom>
          <a:solidFill>
            <a:srgbClr val="160D36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8346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005840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 Segment Revenue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2651760" cy="2011680"/>
          </a:xfrm>
          <a:prstGeom prst="rect">
            <a:avLst/>
          </a:prstGeom>
          <a:solidFill>
            <a:srgbClr val="0D0820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08760"/>
            <a:ext cx="25603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Customer_Segment,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Orders,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SUM(Final_Revenue) AS Revenue,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ROUND(AVG(Final_Revenue),0)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Avg_Order_Value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Transactions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Customer_Segment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Revenue DESC;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0040" y="3584448"/>
            <a:ext cx="2651760" cy="1188720"/>
          </a:xfrm>
          <a:prstGeom prst="rect">
            <a:avLst/>
          </a:prstGeom>
          <a:solidFill>
            <a:srgbClr val="2D1B69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630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💡 Insight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38587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Regular segment leads ₹12.3M but Loyal customers have highest avg order value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834640" cy="3886200"/>
          </a:xfrm>
          <a:prstGeom prst="rect">
            <a:avLst/>
          </a:prstGeom>
          <a:solidFill>
            <a:srgbClr val="160D36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05840"/>
            <a:ext cx="28346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005840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Payment Method Profitability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481328"/>
            <a:ext cx="2651760" cy="2011680"/>
          </a:xfrm>
          <a:prstGeom prst="rect">
            <a:avLst/>
          </a:prstGeom>
          <a:solidFill>
            <a:srgbClr val="0D0820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508760"/>
            <a:ext cx="25603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Payment_Method,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SUM(Final_Revenue) AS Revenue,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SUM(Net_Profit) AS Net_Profit,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ROUND(AVG(Profit_Margin_%),1)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Avg_Margin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Transactions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Payment_Method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Net_Profit DESC;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91840" y="3584448"/>
            <a:ext cx="2651760" cy="1188720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630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💡 Insight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37560" y="38587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EMI &amp; Credit Card drive highest profit — ₹1.8M and ₹1.7M respectively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1005840"/>
            <a:ext cx="2834640" cy="3886200"/>
          </a:xfrm>
          <a:prstGeom prst="rect">
            <a:avLst/>
          </a:prstGeom>
          <a:solidFill>
            <a:srgbClr val="160D36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005840"/>
            <a:ext cx="283464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005840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 5 Products by Revenue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481328"/>
            <a:ext cx="2651760" cy="2011680"/>
          </a:xfrm>
          <a:prstGeom prst="rect">
            <a:avLst/>
          </a:prstGeom>
          <a:solidFill>
            <a:srgbClr val="0D0820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508760"/>
            <a:ext cx="25603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Product_Name, Category,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SUM(Final_Revenue) AS Revenue,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SUM(Quantity) AS Units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Transactions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Product_Name, Category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Revenue DESC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263640" y="3584448"/>
            <a:ext cx="2651760" cy="1188720"/>
          </a:xfrm>
          <a:prstGeom prst="rect">
            <a:avLst/>
          </a:prstGeom>
          <a:solidFill>
            <a:srgbClr val="2D1B69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630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💡 Insight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38587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Canon Camera tops at ₹3.85M. All top 5 are Electronics products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Python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Pandas, NumPy &amp; Matplotlib insights on UrbanMart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1828800"/>
          </a:xfrm>
          <a:prstGeom prst="rect">
            <a:avLst/>
          </a:prstGeom>
          <a:solidFill>
            <a:srgbClr val="160D36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Revenue &amp; Profit Analysis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389888"/>
            <a:ext cx="411480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pd.read_excel('UrbanMart_2024.xlsx')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Monthly summary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 = df.groupby('Month').agg(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Revenue=('Final_Revenue','sum'),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Profit=('Net_Profit','sum'),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Orders=('Order_ID','count')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).round(2)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print(monthly)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28600" y="3017520"/>
            <a:ext cx="4206240" cy="1828800"/>
          </a:xfrm>
          <a:prstGeom prst="rect">
            <a:avLst/>
          </a:prstGeom>
          <a:solidFill>
            <a:srgbClr val="160D36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3017520"/>
            <a:ext cx="42062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175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Return Rate by Category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3401568"/>
            <a:ext cx="411480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 analysis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df['Returned'] = (df['Is_Returned']=='Yes')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return_rate = df.groupby('Category').agg(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Total=('Order_ID','count'),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Returned=('Returned','sum')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return_rate['Rate_%'] = 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return_rate['Returned']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return_rate['Total'] * 100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).round(1)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print(return_rate)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251960" cy="868680"/>
          </a:xfrm>
          <a:prstGeom prst="rect">
            <a:avLst/>
          </a:prstGeom>
          <a:solidFill>
            <a:srgbClr val="2D1B69"/>
          </a:solidFill>
          <a:ln w="12700">
            <a:solidFill>
              <a:srgbClr val="A78BFA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06070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</a:rPr>
              <a:t>📈 Revenue Peak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32588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February 2024 had the highest revenue at ₹11.0M — 14.6% above January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2011680"/>
            <a:ext cx="4251960" cy="868680"/>
          </a:xfrm>
          <a:prstGeom prst="rect">
            <a:avLst/>
          </a:prstGeom>
          <a:solidFill>
            <a:srgbClr val="2D1B69"/>
          </a:solidFill>
          <a:ln w="12700">
            <a:solidFill>
              <a:srgbClr val="A78BFA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206654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</a:rPr>
              <a:t>🏆 Top Category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Electronics contributes 63% of total revenue (₹19.4M) and 48% of net profit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251960" cy="868680"/>
          </a:xfrm>
          <a:prstGeom prst="rect">
            <a:avLst/>
          </a:prstGeom>
          <a:solidFill>
            <a:srgbClr val="2D1B69"/>
          </a:solidFill>
          <a:ln w="12700">
            <a:solidFill>
              <a:srgbClr val="A78BFA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0723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</a:rPr>
              <a:t>🔄 Return Pattern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33756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Grocery has 9.3% return rate — highest. Clothing lowest at 4.8%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4023360"/>
            <a:ext cx="4251960" cy="868680"/>
          </a:xfrm>
          <a:prstGeom prst="rect">
            <a:avLst/>
          </a:prstGeom>
          <a:solidFill>
            <a:srgbClr val="2D1B69"/>
          </a:solidFill>
          <a:ln w="12700">
            <a:solidFill>
              <a:srgbClr val="A78BFA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40782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</a:rPr>
              <a:t>💳 Payment Insight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434340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EMI &amp; Credit Card together account for ₹3.5M net profit (45% of total)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Python — Charts &amp; Visualisation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Ready-to-run Matplotlib / Seaborn code for UrbanMart charts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5303520" cy="4023360"/>
          </a:xfrm>
          <a:prstGeom prst="rect">
            <a:avLst/>
          </a:prstGeom>
          <a:solidFill>
            <a:srgbClr val="0D082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53035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040"/>
                </a:solidFill>
              </a:rPr>
              <a:t>📊  matplotlib_analysis.py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521208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680" dirty="0"/>
          </a:p>
          <a:p>
            <a:pPr marL="0" indent="0">
              <a:buNone/>
            </a:pP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Revenue by Category ──────────────────────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cat_rev = df.groupby('Category')['Final_Revenue'].sum().sort_values()</a:t>
            </a:r>
            <a:endParaRPr lang="en-US" sz="680" dirty="0"/>
          </a:p>
          <a:p>
            <a:pPr marL="0" indent="0">
              <a:buNone/>
            </a:pP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plt.subplots(1, 3, figsize=(16, 5))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fig.patch.set_facecolor('#1A1040')</a:t>
            </a:r>
            <a:endParaRPr lang="en-US" sz="680" dirty="0"/>
          </a:p>
          <a:p>
            <a:pPr marL="0" indent="0">
              <a:buNone/>
            </a:pP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Bar chart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axes[0].barh(cat_rev.index, cat_rev.values/1e6,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color=['#7C3AED','#A78BFA','#06B6D4','#10B981','#F59E0B'])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axes[0].set_title('Revenue by Category (₹M)', color='white')</a:t>
            </a:r>
            <a:endParaRPr lang="en-US" sz="680" dirty="0"/>
          </a:p>
          <a:p>
            <a:pPr marL="0" indent="0">
              <a:buNone/>
            </a:pP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Monthly Trend ──────────────────────────────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= ['January','February','March']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= [9.59, 10.99, 10.13]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 = [2.49,  2.72,  2.64]</a:t>
            </a:r>
            <a:endParaRPr lang="en-US" sz="680" dirty="0"/>
          </a:p>
          <a:p>
            <a:pPr marL="0" indent="0">
              <a:buNone/>
            </a:pP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axes[1].plot(months, revenue, 'o-', color='#06B6D4', label='Revenue')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axes[1].plot(months, profit,  's-', color='#10B981', label='Profit')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axes[1].set_title('Monthly Trend (₹M)', color='white')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axes[1].legend()</a:t>
            </a:r>
            <a:endParaRPr lang="en-US" sz="680" dirty="0"/>
          </a:p>
          <a:p>
            <a:pPr marL="0" indent="0">
              <a:buNone/>
            </a:pP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Return Rate by Category ────────────────────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 = ['Clothing','Electronics','Sports','Home&amp;K','Grocery']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 = [4.8, 7.5, 7.8, 8.8, 9.3]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axes[2].bar(categories, rates, color='#EF4444')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axes[2].set_title('Return Rate % by Category', color='white')</a:t>
            </a:r>
            <a:endParaRPr lang="en-US" sz="680" dirty="0"/>
          </a:p>
          <a:p>
            <a:pPr marL="0" indent="0">
              <a:buNone/>
            </a:pP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plt.savefig('urbanmart_insights.png', dpi=150)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715000" y="960120"/>
            <a:ext cx="3200400" cy="1261872"/>
          </a:xfrm>
          <a:prstGeom prst="rect">
            <a:avLst/>
          </a:prstGeom>
          <a:solidFill>
            <a:srgbClr val="160D36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960120"/>
            <a:ext cx="3200400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88152" y="960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Correlation Analysis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60720" y="130759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df[['Revenue','Profit','Discount_%']]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.corr().round(2)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715000" y="2350008"/>
            <a:ext cx="3200400" cy="1261872"/>
          </a:xfrm>
          <a:prstGeom prst="rect">
            <a:avLst/>
          </a:prstGeom>
          <a:solidFill>
            <a:srgbClr val="160D36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0" y="2350008"/>
            <a:ext cx="3200400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88152" y="23500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Outlier Detection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0720" y="26974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= df['Net_Profit'].quantile(0.25)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= df['Net_Profit'].quantile(0.75)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= Q3 - Q1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outliers = df[(df['Net_Profit']&lt;Q1-1.5*IQR)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(df['Net_Profit']&gt;Q3+1.5*IQR)]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715000" y="3739896"/>
            <a:ext cx="3200400" cy="1261872"/>
          </a:xfrm>
          <a:prstGeom prst="rect">
            <a:avLst/>
          </a:prstGeom>
          <a:solidFill>
            <a:srgbClr val="160D36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0" y="3739896"/>
            <a:ext cx="320040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88152" y="373989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Segment Pivot Table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60720" y="408736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 = pd.pivot_table(df,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values='Final_Revenue',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index='Customer_Segment',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columns='Category',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aggfunc='sum').round(0)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Revenue &amp; Profit Analysis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117193992"/>
              </p:ext>
            </p:extLst>
          </p:nvPr>
        </p:nvGraphicFramePr>
        <p:xfrm>
          <a:off x="274320" y="77724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394960" y="777240"/>
          <a:ext cx="35661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840480"/>
            <a:ext cx="2011680" cy="1078992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274320" y="39136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</a:rPr>
              <a:t>63%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74320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Electronics share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450592" y="3840480"/>
            <a:ext cx="2011680" cy="1078992"/>
          </a:xfrm>
          <a:prstGeom prst="rect">
            <a:avLst/>
          </a:prstGeom>
          <a:solidFill>
            <a:srgbClr val="2D1B69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2450592" y="39136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</a:rPr>
              <a:t>₹10.99M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450592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Best month (Feb)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626864" y="3840480"/>
            <a:ext cx="2011680" cy="1078992"/>
          </a:xfrm>
          <a:prstGeom prst="rect">
            <a:avLst/>
          </a:prstGeom>
          <a:solidFill>
            <a:srgbClr val="2D1B69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626864" y="39136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25.57%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626864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Avg Net Margin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803136" y="3840480"/>
            <a:ext cx="2011680" cy="1078992"/>
          </a:xfrm>
          <a:prstGeom prst="rect">
            <a:avLst/>
          </a:prstGeom>
          <a:solidFill>
            <a:srgbClr val="2D1B69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803136" y="39136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34.63%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803136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Gross Margin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Category &amp; Product Performance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777240"/>
          <a:ext cx="4343400" cy="237744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Canon Camera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D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₹3.85M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iPhone 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D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D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₹2.76M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Boat Earbuds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D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₹2.40M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OnePlus Nord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D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D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₹2.34M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PS5 Controller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D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₹2.29M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274320" y="3273552"/>
          <a:ext cx="85953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Recommendations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Actionable insights from SQL &amp; Python analysis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788920" cy="1755648"/>
          </a:xfrm>
          <a:prstGeom prst="rect">
            <a:avLst/>
          </a:prstGeom>
          <a:solidFill>
            <a:srgbClr val="2D1B69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51560"/>
            <a:ext cx="27889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17957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179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040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117957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</a:rPr>
              <a:t>📱  Scale Electronics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164592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Electronics = 63% revenue but only 48% profit. Audit COGS — small margin improvements yield large returns.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18688" y="1051560"/>
            <a:ext cx="2788920" cy="1755648"/>
          </a:xfrm>
          <a:prstGeom prst="rect">
            <a:avLst/>
          </a:prstGeom>
          <a:solidFill>
            <a:srgbClr val="2D1B69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051560"/>
            <a:ext cx="27889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28416" y="1179576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1179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040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85616" y="117957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🛒  Fix Grocery Returns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28416" y="164592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9.3% return rate in Grocery is highest. Review quality checks and product descriptions to reduce returns.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63056" y="1051560"/>
            <a:ext cx="2788920" cy="1755648"/>
          </a:xfrm>
          <a:prstGeom prst="rect">
            <a:avLst/>
          </a:prstGeom>
          <a:solidFill>
            <a:srgbClr val="2D1B69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3056" y="105156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117957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1179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040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29984" y="117957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🌟  Reward Loyal Customers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72784" y="164592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Loyal segment is only 4th in volume but has highest avg order. Launch loyalty rewards to grow this segment.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971800"/>
            <a:ext cx="2788920" cy="1755648"/>
          </a:xfrm>
          <a:prstGeom prst="rect">
            <a:avLst/>
          </a:prstGeom>
          <a:solidFill>
            <a:srgbClr val="2D1B69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7180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09981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099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040"/>
                </a:solidFill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" y="309981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💳  Push EMI &amp; Credit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4048" y="356616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EMI and Credit Card customers generate highest net profit. Offer exclusive deals for these payment methods.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18688" y="2971800"/>
            <a:ext cx="2788920" cy="1755648"/>
          </a:xfrm>
          <a:prstGeom prst="rect">
            <a:avLst/>
          </a:prstGeom>
          <a:solidFill>
            <a:srgbClr val="2D1B69"/>
          </a:solidFill>
          <a:ln w="1905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18688" y="2971800"/>
            <a:ext cx="278892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28416" y="3099816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28416" y="3099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040"/>
                </a:solidFill>
              </a:rPr>
              <a:t>05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785616" y="309981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</a:rPr>
              <a:t>📅  February Strategy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28416" y="356616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Feb was peak month at ₹11M. Replicate promotions — analyse what drove demand and repeat in Q2 2024.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63056" y="2971800"/>
            <a:ext cx="2788920" cy="1755648"/>
          </a:xfrm>
          <a:prstGeom prst="rect">
            <a:avLst/>
          </a:prstGeom>
          <a:solidFill>
            <a:srgbClr val="2D1B69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3056" y="2971800"/>
            <a:ext cx="2788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72784" y="309981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2784" y="3099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040"/>
                </a:solidFill>
              </a:rPr>
              <a:t>06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29984" y="309981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🗺️  Grow South Region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72784" y="356616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South generates ₹18.4M (60% of revenue). Invest in North &amp; West marketing — both underperform at 19% each.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78BFA"/>
                </a:solidFill>
              </a:rPr>
              <a:t>UrbanMart Retail Analytics  •  Q1 2024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7315200" cy="73152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₹30.72M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730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Revenue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80360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25.57%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80360" y="3730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Net Margin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1,200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730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Orders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46520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7.6%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3730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Return 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Built with SQL  •  Python  •  Power BI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1482</Words>
  <Application>Microsoft Office PowerPoint</Application>
  <PresentationFormat>On-screen Show (16:9)</PresentationFormat>
  <Paragraphs>263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UrbanMart 2024 Analytics Insights</dc:title>
  <dc:subject>PptxGenJS Presentation</dc:subject>
  <dc:creator>PptxGenJS</dc:creator>
  <cp:lastModifiedBy>0 0</cp:lastModifiedBy>
  <cp:revision>3</cp:revision>
  <dcterms:created xsi:type="dcterms:W3CDTF">2026-04-05T14:51:37Z</dcterms:created>
  <dcterms:modified xsi:type="dcterms:W3CDTF">2026-04-06T04:16:06Z</dcterms:modified>
</cp:coreProperties>
</file>